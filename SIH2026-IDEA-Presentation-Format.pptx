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1"/>
  </p:sldMasterIdLst>
  <p:notesMasterIdLst>
    <p:notesMasterId r:id="rId5"/>
  </p:notesMasterIdLst>
  <p:sldIdLst>
    <p:sldId id="291" r:id="rId3"/>
    <p:sldId id="281" r:id="rId4"/>
    <p:sldId id="290" r:id="rId6"/>
    <p:sldId id="293" r:id="rId7"/>
    <p:sldId id="294" r:id="rId8"/>
    <p:sldId id="296" r:id="rId9"/>
    <p:sldId id="297" r:id="rId10"/>
  </p:sldIdLst>
  <p:sldSz cx="12192000" cy="6858000"/>
  <p:notesSz cx="6858000" cy="9144000"/>
  <p:embeddedFontLst>
    <p:embeddedFont>
      <p:font typeface="AkayaKanadaka" panose="02010502080401010103" charset="0"/>
      <p:regular r:id="rId14"/>
    </p:embeddedFont>
  </p:embeddedFont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font" Target="fonts/font1.fntdata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charset="0"/>
        <a:cs typeface="MS PGothic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F62A7E-A2F8-438F-9CF8-47DE63F471B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0CA7B74D-3791-4AC6-8451-F10DBCCCDD9A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MS PGothic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MS PGothic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MS PGothic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MS PGothic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MS PGothic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MS PGothic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MS PGothic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MS PGothic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MS PGothic" charset="0"/>
          <a:cs typeface="MS PGothic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charset="0"/>
          <a:cs typeface="MS PGothic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charset="0"/>
          <a:cs typeface="MS PGothic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charset="0"/>
          <a:cs typeface="MS PGothic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charset="0"/>
          <a:cs typeface="MS PGothic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charset="0"/>
          <a:cs typeface="MS PGothic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charset="0"/>
          <a:cs typeface="MS PGothic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charset="0"/>
          <a:cs typeface="MS PGothic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charset="0"/>
          <a:cs typeface="MS PGothic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TradeGothic"/>
          <a:ea typeface="MS PGothic" charset="0"/>
          <a:cs typeface="MS PGothic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TradeGothic"/>
          <a:ea typeface="MS PGothic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TradeGothic"/>
          <a:ea typeface="MS PGothic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TradeGothic"/>
          <a:ea typeface="MS PGothic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TradeGothic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r="59916"/>
          <a:stretch>
            <a:fillRect/>
          </a:stretch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en-US" sz="2400" b="1" dirty="0">
                <a:latin typeface="Arial" panose="020B0604020202090204" pitchFamily="34" charset="0"/>
                <a:cs typeface="Arial" panose="020B0604020202090204" pitchFamily="34" charset="0"/>
              </a:rPr>
              <a:t>Problem Statement ID – SIH26047</a:t>
            </a:r>
            <a:endParaRPr lang="en-US" sz="2400" b="1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en-US" sz="2400" b="1" dirty="0">
                <a:latin typeface="Arial" panose="020B0604020202090204" pitchFamily="34" charset="0"/>
                <a:cs typeface="Arial" panose="020B0604020202090204" pitchFamily="34" charset="0"/>
              </a:rPr>
              <a:t>Problem Statement Title- P</a:t>
            </a:r>
            <a:endParaRPr lang="en-US" sz="2400" b="1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en-US" sz="2400" b="1" dirty="0">
                <a:latin typeface="Arial" panose="020B0604020202090204" pitchFamily="34" charset="0"/>
                <a:cs typeface="Arial" panose="020B0604020202090204" pitchFamily="34" charset="0"/>
              </a:rPr>
              <a:t>Theme-</a:t>
            </a:r>
            <a:endParaRPr lang="en-US" sz="2400" b="1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en-US" sz="2400" b="1" dirty="0">
                <a:latin typeface="Arial" panose="020B0604020202090204" pitchFamily="34" charset="0"/>
                <a:cs typeface="Arial" panose="020B0604020202090204" pitchFamily="34" charset="0"/>
              </a:rPr>
              <a:t>PS Category- Software/Hardware</a:t>
            </a:r>
            <a:endParaRPr lang="en-US" sz="2400" b="1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en-US" sz="2400" b="1" dirty="0">
                <a:latin typeface="Arial" panose="020B0604020202090204" pitchFamily="34" charset="0"/>
                <a:cs typeface="Arial" panose="020B0604020202090204" pitchFamily="34" charset="0"/>
              </a:rPr>
              <a:t>Team ID-</a:t>
            </a:r>
            <a:endParaRPr lang="en-US" sz="2400" b="1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en-US" sz="2400" b="1" dirty="0">
                <a:latin typeface="Arial" panose="020B0604020202090204" pitchFamily="34" charset="0"/>
                <a:cs typeface="Arial" panose="020B0604020202090204" pitchFamily="34" charset="0"/>
              </a:rPr>
              <a:t>Team Name (Registered on portal)</a:t>
            </a:r>
            <a:endParaRPr lang="en-IN" sz="2400" b="1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635" y="0"/>
            <a:ext cx="1215644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503050405090304" pitchFamily="18" charset="0"/>
                <a:ea typeface="MS PGothic" pitchFamily="1" charset="-128"/>
                <a:cs typeface="Times New Roman" panose="02020503050405090304" pitchFamily="18" charset="0"/>
              </a:rPr>
            </a:br>
            <a:r>
              <a:rPr lang="en-US" altLang="en-US" sz="6000" b="1" dirty="0">
                <a:latin typeface="Academy Engraved LET" panose="02000000000000000000" charset="0"/>
                <a:ea typeface="MS PGothic" pitchFamily="1" charset="-128"/>
                <a:cs typeface="Academy Engraved LET" panose="02000000000000000000" charset="0"/>
              </a:rPr>
              <a:t>MedSOS</a:t>
            </a:r>
            <a:endParaRPr lang="en-US" altLang="en-US" sz="6000" b="1" dirty="0">
              <a:latin typeface="Academy Engraved LET" panose="02000000000000000000" charset="0"/>
              <a:ea typeface="MS PGothic" pitchFamily="1" charset="-128"/>
              <a:cs typeface="Academy Engraved LET" panose="02000000000000000000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0" y="2478405"/>
            <a:ext cx="12028170" cy="300609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altLang="en-US" sz="2400" dirty="0">
                <a:solidFill>
                  <a:schemeClr val="accent6">
                    <a:lumMod val="75000"/>
                  </a:schemeClr>
                </a:solidFill>
                <a:latin typeface="Arial" panose="020B0604020202090204" pitchFamily="34" charset="0"/>
                <a:cs typeface="Arial" panose="020B0604020202090204" pitchFamily="34" charset="0"/>
              </a:rPr>
              <a:t>Unconscious, unidentified victims :</a:t>
            </a:r>
            <a:r>
              <a:rPr lang="en-US" altLang="en-US" sz="2000" dirty="0">
                <a:latin typeface="Arial" panose="020B0604020202090204" pitchFamily="34" charset="0"/>
                <a:cs typeface="Arial" panose="020B0604020202090204" pitchFamily="34" charset="0"/>
              </a:rPr>
              <a:t> Accident victims are often unable to communicate their identity, medical history, or emergency contacts.</a:t>
            </a:r>
            <a:endParaRPr lang="en-US" altLang="en-US" sz="20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altLang="en-US" sz="20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altLang="en-US" sz="2400" dirty="0">
                <a:solidFill>
                  <a:schemeClr val="accent6">
                    <a:lumMod val="75000"/>
                  </a:schemeClr>
                </a:solidFill>
                <a:latin typeface="Arial" panose="020B0604020202090204" pitchFamily="34" charset="0"/>
                <a:cs typeface="Arial" panose="020B0604020202090204" pitchFamily="34" charset="0"/>
              </a:rPr>
              <a:t>ID documents are hard to access :</a:t>
            </a:r>
            <a:r>
              <a:rPr lang="en-US" altLang="en-US" sz="2000" dirty="0">
                <a:latin typeface="Arial" panose="020B0604020202090204" pitchFamily="34" charset="0"/>
                <a:cs typeface="Arial" panose="020B0604020202090204" pitchFamily="34" charset="0"/>
              </a:rPr>
              <a:t> Physical ID or health records are rarely on hand, and families struggle to locate them quickly during a crisis.</a:t>
            </a:r>
            <a:endParaRPr lang="en-US" altLang="en-US" sz="20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altLang="en-US" sz="20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altLang="en-US" sz="2400" dirty="0">
                <a:solidFill>
                  <a:schemeClr val="accent6">
                    <a:lumMod val="75000"/>
                  </a:schemeClr>
                </a:solidFill>
                <a:latin typeface="Arial" panose="020B0604020202090204" pitchFamily="34" charset="0"/>
                <a:cs typeface="Arial" panose="020B0604020202090204" pitchFamily="34" charset="0"/>
              </a:rPr>
              <a:t> Relatives are left in the dark : </a:t>
            </a:r>
            <a:r>
              <a:rPr lang="en-US" altLang="en-US" sz="2000" dirty="0">
                <a:latin typeface="Arial" panose="020B0604020202090204" pitchFamily="34" charset="0"/>
                <a:cs typeface="Arial" panose="020B0604020202090204" pitchFamily="34" charset="0"/>
              </a:rPr>
              <a:t>Family members are often the last to know, delaying consent, decisions, and support for the patient.</a:t>
            </a:r>
            <a:endParaRPr lang="en-US" altLang="en-US" sz="20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altLang="en-US" sz="20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altLang="en-US" sz="2400" dirty="0">
                <a:solidFill>
                  <a:schemeClr val="accent6">
                    <a:lumMod val="75000"/>
                  </a:schemeClr>
                </a:solidFill>
                <a:latin typeface="Arial" panose="020B0604020202090204" pitchFamily="34" charset="0"/>
                <a:cs typeface="Arial" panose="020B0604020202090204" pitchFamily="34" charset="0"/>
              </a:rPr>
              <a:t> Critical medical facts go missing :</a:t>
            </a:r>
            <a:r>
              <a:rPr lang="en-US" altLang="en-US" sz="2000" dirty="0">
                <a:latin typeface="Arial" panose="020B0604020202090204" pitchFamily="34" charset="0"/>
                <a:cs typeface="Arial" panose="020B0604020202090204" pitchFamily="34" charset="0"/>
              </a:rPr>
              <a:t> Blood group, allergies, and existing conditions aren't known to first responders, raising treatment risk.</a:t>
            </a:r>
            <a:endParaRPr lang="en-US" altLang="en-US" sz="2000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62175" cy="1614805"/>
          </a:xfrm>
          <a:prstGeom prst="ellipse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-635" y="1418590"/>
            <a:ext cx="12167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>
                <a:solidFill>
                  <a:srgbClr val="FF0000"/>
                </a:solidFill>
                <a:latin typeface="AkayaKanadaka" panose="02010502080401010103" charset="0"/>
                <a:cs typeface="AkayaKanadaka" panose="02010502080401010103" charset="0"/>
              </a:rPr>
              <a:t>Emergency Health Identity Platform</a:t>
            </a:r>
            <a:endParaRPr lang="en-US" altLang="en-US">
              <a:solidFill>
                <a:srgbClr val="FF0000"/>
              </a:solidFill>
              <a:latin typeface="AkayaKanadaka" panose="02010502080401010103" charset="0"/>
              <a:cs typeface="AkayaKanadaka" panose="02010502080401010103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3970" y="1786890"/>
            <a:ext cx="121570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1800">
                <a:solidFill>
                  <a:srgbClr val="00B0F0"/>
                </a:solidFill>
              </a:rPr>
              <a:t>Instant, secure access to a patient's verified identity and medical information during the golden hour , when every second counts.</a:t>
            </a:r>
            <a:endParaRPr lang="en-US" altLang="en-US" sz="1800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503050405090304" pitchFamily="18" charset="0"/>
                <a:ea typeface="MS PGothic" pitchFamily="1" charset="-128"/>
                <a:cs typeface="Times New Roman" panose="02020503050405090304" pitchFamily="18" charset="0"/>
              </a:rPr>
              <a:t>TECHNICAL APPROACH</a:t>
            </a:r>
            <a:endParaRPr lang="en-US" sz="3600" b="1" dirty="0">
              <a:latin typeface="Times New Roman" panose="02020503050405090304" pitchFamily="18" charset="0"/>
              <a:ea typeface="MS PGothic" pitchFamily="1" charset="-128"/>
              <a:cs typeface="Times New Roman" panose="0202050305040509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90204" pitchFamily="34" charset="0"/>
              <a:buChar char="•"/>
            </a:pPr>
            <a:r>
              <a:rPr lang="en-US" sz="2800" dirty="0">
                <a:latin typeface="Arial" panose="020B0604020202090204" pitchFamily="34" charset="0"/>
                <a:cs typeface="Arial" panose="020B0604020202090204" pitchFamily="34" charset="0"/>
              </a:rPr>
              <a:t>Technologies to be used (e.g. programming languages, frameworks, hardware)</a:t>
            </a:r>
            <a:endParaRPr lang="en-US" sz="28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342900" indent="-342900" algn="just">
              <a:buFont typeface="Arial" panose="020B0604020202090204" pitchFamily="34" charset="0"/>
              <a:buChar char="•"/>
            </a:pPr>
            <a:r>
              <a:rPr lang="en-US" sz="2800" dirty="0">
                <a:latin typeface="Arial" panose="020B0604020202090204" pitchFamily="34" charset="0"/>
                <a:cs typeface="Arial" panose="020B0604020202090204" pitchFamily="34" charset="0"/>
              </a:rPr>
              <a:t>Methodology and process for implementation (Flow Charts/Images/ working prototype)</a:t>
            </a:r>
            <a:endParaRPr lang="en-US" sz="2800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MS PGothic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503050405090304" pitchFamily="18" charset="0"/>
                <a:ea typeface="MS PGothic" pitchFamily="1" charset="-128"/>
                <a:cs typeface="Times New Roman" panose="02020503050405090304" pitchFamily="18" charset="0"/>
              </a:rPr>
              <a:t>FEASIBILITY AND VIABILITY</a:t>
            </a:r>
            <a:endParaRPr lang="en-US" sz="3600" b="1" dirty="0">
              <a:latin typeface="Times New Roman" panose="02020503050405090304" pitchFamily="18" charset="0"/>
              <a:ea typeface="MS PGothic" pitchFamily="1" charset="-128"/>
              <a:cs typeface="Times New Roman" panose="0202050305040509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90204" pitchFamily="34" charset="0"/>
              <a:ea typeface="MS PGothic" pitchFamily="1" charset="-128"/>
              <a:cs typeface="Arial" panose="020B0604020202090204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Potential challenges and risks</a:t>
            </a:r>
            <a:endParaRPr lang="en-US" sz="2800" dirty="0">
              <a:solidFill>
                <a:prstClr val="black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 pitchFamily="34" charset="0"/>
                <a:ea typeface="MS PGothic" pitchFamily="1" charset="-128"/>
                <a:cs typeface="Arial" panose="020B0604020202090204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 pitchFamily="34" charset="0"/>
                <a:ea typeface="MS PGothic" pitchFamily="1" charset="-128"/>
                <a:cs typeface="Arial" panose="020B0604020202090204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90204" pitchFamily="34" charset="0"/>
              <a:ea typeface="MS PGothic" pitchFamily="1" charset="-128"/>
              <a:cs typeface="Arial" panose="020B060402020209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MS PGothic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503050405090304" pitchFamily="18" charset="0"/>
                <a:ea typeface="MS PGothic" pitchFamily="1" charset="-128"/>
                <a:cs typeface="Times New Roman" panose="02020503050405090304" pitchFamily="18" charset="0"/>
              </a:rPr>
              <a:t>IMPACT AND BENEFITS</a:t>
            </a:r>
            <a:endParaRPr lang="en-US" sz="3600" b="1" dirty="0">
              <a:latin typeface="Times New Roman" panose="02020503050405090304" pitchFamily="18" charset="0"/>
              <a:ea typeface="MS PGothic" pitchFamily="1" charset="-128"/>
              <a:cs typeface="Times New Roman" panose="0202050305040509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 pitchFamily="34" charset="0"/>
                <a:ea typeface="MS PGothic" pitchFamily="1" charset="-128"/>
                <a:cs typeface="Arial" panose="020B0604020202090204" pitchFamily="34" charset="0"/>
              </a:rPr>
              <a:t>Potential impact on the target audience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90204" pitchFamily="34" charset="0"/>
              <a:ea typeface="MS PGothic" pitchFamily="1" charset="-128"/>
              <a:cs typeface="Arial" panose="020B0604020202090204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Benefits of the solution (social, economic, environmental, etc.)</a:t>
            </a:r>
            <a:endParaRPr lang="en-US" sz="2800" dirty="0">
              <a:solidFill>
                <a:prstClr val="black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MS PGothic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503050405090304" pitchFamily="18" charset="0"/>
                <a:ea typeface="MS PGothic" pitchFamily="1" charset="-128"/>
                <a:cs typeface="Times New Roman" panose="02020503050405090304" pitchFamily="18" charset="0"/>
              </a:rPr>
              <a:t>RESEARCH  AND REFERENCES</a:t>
            </a:r>
            <a:endParaRPr lang="en-US" sz="3600" b="1" dirty="0">
              <a:latin typeface="Times New Roman" panose="02020503050405090304" pitchFamily="18" charset="0"/>
              <a:ea typeface="MS PGothic" pitchFamily="1" charset="-128"/>
              <a:cs typeface="Times New Roman" panose="0202050305040509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90204" pitchFamily="34" charset="0"/>
              <a:ea typeface="MS PGothic" pitchFamily="1" charset="-128"/>
              <a:cs typeface="Arial" panose="020B060402020209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MS PGothic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90204" pitchFamily="34" charset="0"/>
                <a:ea typeface="Calibri"/>
                <a:cs typeface="Arial" panose="020B060402020209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90204" pitchFamily="34" charset="0"/>
                <a:ea typeface="Calibri"/>
                <a:cs typeface="Arial" panose="020B060402020209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90204" pitchFamily="34" charset="0"/>
                <a:ea typeface="Calibri"/>
                <a:cs typeface="Arial" panose="020B060402020209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90204" pitchFamily="34" charset="0"/>
                <a:ea typeface="Calibri"/>
                <a:cs typeface="Arial" panose="020B0604020202090204" pitchFamily="34" charset="0"/>
                <a:sym typeface="Calibri"/>
              </a:rPr>
              <a:t>title slide) </a:t>
            </a:r>
            <a:endParaRPr b="1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90204" pitchFamily="34" charset="0"/>
                <a:ea typeface="Calibri"/>
                <a:cs typeface="Arial" panose="020B060402020209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90204" pitchFamily="34" charset="0"/>
                <a:ea typeface="Calibri"/>
                <a:cs typeface="Arial" panose="020B060402020209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90204" pitchFamily="34" charset="0"/>
                <a:ea typeface="Calibri"/>
                <a:cs typeface="Arial" panose="020B060402020209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90204" pitchFamily="34" charset="0"/>
                <a:ea typeface="Calibri"/>
                <a:cs typeface="Arial" panose="020B060402020209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90204" pitchFamily="34" charset="0"/>
                <a:ea typeface="Calibri"/>
                <a:cs typeface="Arial" panose="020B060402020209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90204" pitchFamily="34" charset="0"/>
                <a:ea typeface="Calibri"/>
                <a:cs typeface="Arial" panose="020B060402020209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90204" pitchFamily="34" charset="0"/>
                <a:ea typeface="Calibri"/>
                <a:cs typeface="Arial" panose="020B060402020209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90204" pitchFamily="34" charset="0"/>
                <a:ea typeface="Calibri"/>
                <a:cs typeface="Arial" panose="020B060402020209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90204" pitchFamily="34" charset="0"/>
              <a:ea typeface="Calibri"/>
              <a:cs typeface="Arial" panose="020B060402020209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90204" pitchFamily="34" charset="0"/>
                <a:ea typeface="Calibri"/>
                <a:cs typeface="Arial" panose="020B060402020209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90204" pitchFamily="34" charset="0"/>
              <a:ea typeface="Calibri"/>
              <a:cs typeface="Arial" panose="020B060402020209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90204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90204" pitchFamily="34" charset="0"/>
                <a:ea typeface="Calibri"/>
                <a:cs typeface="Arial" panose="020B060402020209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90204" pitchFamily="34" charset="0"/>
              <a:ea typeface="Calibri"/>
              <a:cs typeface="Arial" panose="020B060402020209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IMPORTANT INSTRUCTIONS</a:t>
            </a:r>
            <a:endParaRPr lang="en-IN" sz="36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90204" pitchFamily="34" charset="0"/>
                <a:ea typeface="Calibri"/>
                <a:cs typeface="Arial" panose="020B060402020209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90204" pitchFamily="34" charset="0"/>
              <a:ea typeface="Calibri"/>
              <a:cs typeface="Arial" panose="020B060402020209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2350</Words>
  <Application>WPS Presentation</Application>
  <PresentationFormat>Widescreen</PresentationFormat>
  <Paragraphs>91</Paragraphs>
  <Slides>7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32" baseType="lpstr">
      <vt:lpstr>Arial</vt:lpstr>
      <vt:lpstr>SimSun</vt:lpstr>
      <vt:lpstr>Wingdings</vt:lpstr>
      <vt:lpstr>Calibri</vt:lpstr>
      <vt:lpstr>Helvetica Neue</vt:lpstr>
      <vt:lpstr>MS PGothic</vt:lpstr>
      <vt:lpstr>冬青黑体简体中文</vt:lpstr>
      <vt:lpstr>TradeGothic</vt:lpstr>
      <vt:lpstr>苹方-简</vt:lpstr>
      <vt:lpstr>TradeGothic</vt:lpstr>
      <vt:lpstr>Thonburi</vt:lpstr>
      <vt:lpstr>MS PGothic</vt:lpstr>
      <vt:lpstr>Arial</vt:lpstr>
      <vt:lpstr>Times New Roman</vt:lpstr>
      <vt:lpstr>Garamond</vt:lpstr>
      <vt:lpstr>Calibri</vt:lpstr>
      <vt:lpstr>Microsoft YaHei</vt:lpstr>
      <vt:lpstr>汉仪旗黑</vt:lpstr>
      <vt:lpstr>Arial Unicode MS</vt:lpstr>
      <vt:lpstr>宋体-简</vt:lpstr>
      <vt:lpstr>Helvetica Neue Regular</vt:lpstr>
      <vt:lpstr>Academy Engraved LET</vt:lpstr>
      <vt:lpstr>Adelle Sans Devanagari Regular</vt:lpstr>
      <vt:lpstr>AkayaKanadaka</vt:lpstr>
      <vt:lpstr>Office Theme</vt:lpstr>
      <vt:lpstr>SMART INDIA HACKATHON 2026</vt:lpstr>
      <vt:lpstr> </vt:lpstr>
      <vt:lpstr>TECHNICAL APPROACH</vt:lpstr>
      <vt:lpstr>FEASIBILITY AND VIABILITY</vt:lpstr>
      <vt:lpstr>IMPACT AND BENEFITS</vt:lpstr>
      <vt:lpstr>RESEARCH  AND REFERENCES</vt:lpstr>
      <vt:lpstr>PowerPoint 演示文稿</vt:lpstr>
    </vt:vector>
  </TitlesOfParts>
  <Company>Crowdfunder,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Pranay Das Adhikary</cp:lastModifiedBy>
  <cp:revision>152</cp:revision>
  <dcterms:created xsi:type="dcterms:W3CDTF">2026-08-29T07:25:17Z</dcterms:created>
  <dcterms:modified xsi:type="dcterms:W3CDTF">2026-08-29T07:25:17Z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1033-12.1.26050.26050</vt:lpwstr>
  </property>
  <property fmtid="{D5CDD505-2E9C-101B-9397-08002B2CF9AE}" pid="3" name="ICV">
    <vt:lpwstr>1BF4B780F8707B048168926AC909E98F_42</vt:lpwstr>
  </property>
</Properties>
</file>